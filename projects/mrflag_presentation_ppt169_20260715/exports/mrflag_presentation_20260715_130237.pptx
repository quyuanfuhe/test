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大家下午好，欢迎来到我们的项目汇报。今天我将为大家介绍 MR Flag Battle — 一款基于 Pico 4 Ultra Enterprise 的混合现实夺旗对战游戏。项目使用 Unity 引擎开发，Go 语言编写后端，实现了一个完整的 MR 游戏闭环。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今天的汇报分为四个部分：首先是项目介绍与意义，然后是前期设计与最终实现的展示，接着是各成员的工作汇报，最后分享我们的思考与收获。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第一部分：项目介绍与意义。我将从项目背景、项目介绍、项目意义三个方面展开。这部分的结论是：MR Flag Battle 不仅是一个游戏项目，更是一次完整的混合现实技术探索。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我们的开发环境是 Unity 2022.3 LTS，目标平台是 Pico 4 Ultra Enterprise，这是目前企业级 MR 头显的主流选择。后端使用 Go 语言，支持 HTTP、WebSocket 和 UDP 三种通信协议。目标受众是 MR 体验爱好者、Pico 头显用户，以及对空间计算感兴趣的技术用户。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MR Flag Battle 是一款双人 MR 夺旗游戏。核心玩法很简单：玩家在真实物理空间中抓取虚拟旗帜得分。我们实现了单人 30 秒挑战和双人实时联机两种模式。地图编辑器让玩家可以用手柄搭建自定义场景，地图通过 WebSocket 同步到服务器，其他玩家自动收到更新。空间锚点确保了两人看到的虚拟物体位置一致，UDP 30Hz 同步保证了流畅的对战体验。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对项目本身而言，我们探索了 MR 技术在游戏领域的应用，实现了从空间定位、地图编辑、对战到同步的完整闭环，打通了 Unity 到 Go 的全栈链路。对团队成员来说，大家深入学习了 XR 开发、掌握了空间锚点技术、积累了实时网络通信的实战经验，也锻炼了系统架构设计和团队协作能力。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第二部分：前期设计与最终实现。这个板块内容最丰富，涵盖了游戏流程设计、构筑要素规划、开发计划、需求与设计文档，以及最终的实现成果。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游戏流程分为五个步骤：主菜单 → 选择模式 → 地图选择 → 游戏对战 → 显示得分并返回。构筑要素包括四大系统：场景物体系统有墙、箱、柱、桶、坡道、球体；旗帜系统有金银红三色旗，支持抓取得分和重生；玩家系统由 LocalPlayer 发送位置、RemotePlayer 接收并插值；UI 系统包含主菜单面板、地图选择和得分显示。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开发分为六个阶段：第一阶段搭建 Unity 项目和集成 Pico SDK，第二阶段实现单人游戏模式，第三阶段搭建 Go 后端三层服务，第四阶段实现双人联机模式，第五阶段开发地图编辑器和同步功能，第六阶段进行模型替换、UI 优化和 Bug 修复。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这一页预留了两个区域，分别用于插入需求分析文档截图和设计文档截图。项目前期的需求分析和架构设计是后续开发的重要基础。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我们成功实现了九大功能模块。从 MR 混合现实环境配置、单人夺旗模式、双人联机对战，到 XR 地图编辑器、云端同步、REST API、WebSocket 通信、UDP 位置同步，以及模型替换支持。每个模块都经过完整的开发和测试。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技术上有三个亮点值得强调：第一，使用 Pico Spatial Anchor 实现共享坐标系，确保双人场景精确对齐；第二，自定义 MsgPack 编解码器，C# 端和 Go 端格式严格一致；第三，Go 后端的开发简化模式，无需手动配置就能联机调试。右侧区域预留给演示视频。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第三部分：工作汇报。四位成员的工作概览将以统一风格的卡片形式呈现，每人标注姓名和主要工作内容。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这一页预留了四位成员的工作汇报区域。每张卡片包含成员姓名和虚线填充的工作内容区，保持统一的 dark-tech 风格。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第四部分：思考与收获。回顾整个项目历程，我们从技术和项目管理两个维度沉淀了宝贵的经验。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技术收获包括 Unity XR 开发体系的理解、空间锚点核心技术的掌握、实时网络通信的实战经验、协议设计的最佳实践，以及 Addressables 资源管理流程。项目管理方面，我们在 Git 多人协作、模块化架构设计和代码保护策略上都有显著提升。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展望未来，我们计划在五个方向上持续优化：增加更多游戏模式、优化视觉效果和 Avatar 模型、增强物理交互、完善编辑器功能，以及支持更多 MR 设备平台。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感谢各位的聆听，以上就是 MR Flag Battle 项目的完整汇报。欢迎提问和交流。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rflag_present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rflag_presenta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6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742950"/>
            <a:ext cx="10858500" cy="5557837"/>
            <a:chOff x="571500" y="742950"/>
            <a:chExt cx="10858500" cy="5557837"/>
          </a:xfrm>
        </p:grpSpPr>
        <p:sp>
          <p:nvSpPr>
            <p:cNvPr id="6" name="Polygon 6"/>
            <p:cNvSpPr/>
            <p:nvPr/>
          </p:nvSpPr>
          <p:spPr>
            <a:xfrm>
              <a:off x="10858500" y="981075"/>
              <a:ext cx="571500" cy="647700"/>
            </a:xfrm>
            <a:custGeom>
              <a:avLst/>
              <a:gdLst/>
              <a:ahLst/>
              <a:cxnLst/>
              <a:rect l="l" t="t" r="r" b="b"/>
              <a:pathLst>
                <a:path w="571500" h="647700">
                  <a:moveTo>
                    <a:pt x="0" y="161925"/>
                  </a:moveTo>
                  <a:lnTo>
                    <a:pt x="285750" y="0"/>
                  </a:lnTo>
                  <a:lnTo>
                    <a:pt x="571500" y="161925"/>
                  </a:lnTo>
                  <a:lnTo>
                    <a:pt x="571500" y="485775"/>
                  </a:lnTo>
                  <a:lnTo>
                    <a:pt x="285750" y="647700"/>
                  </a:lnTo>
                  <a:lnTo>
                    <a:pt x="0" y="485775"/>
                  </a:lnTo>
                  <a:close/>
                </a:path>
              </a:pathLst>
            </a:custGeom>
            <a:noFill/>
            <a:ln w="14288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10096500" y="74295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0" y="114300"/>
                  </a:moveTo>
                  <a:lnTo>
                    <a:pt x="190500" y="0"/>
                  </a:lnTo>
                  <a:lnTo>
                    <a:pt x="381000" y="114300"/>
                  </a:lnTo>
                  <a:lnTo>
                    <a:pt x="381000" y="342900"/>
                  </a:lnTo>
                  <a:lnTo>
                    <a:pt x="190500" y="45720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552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1500" y="55245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209675" y="5495925"/>
              <a:ext cx="57150" cy="57150"/>
            </a:xfrm>
            <a:prstGeom prst="ellipse">
              <a:avLst/>
            </a:prstGeom>
            <a:noFill/>
            <a:ln w="9525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463212" y="6272212"/>
              <a:ext cx="28575" cy="2857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748962" y="6272212"/>
              <a:ext cx="28575" cy="2857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1034712" y="6272212"/>
              <a:ext cx="28575" cy="2857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606088" y="5986462"/>
              <a:ext cx="28575" cy="2857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891838" y="5986462"/>
              <a:ext cx="28575" cy="28575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33450" y="2346960"/>
            <a:ext cx="5559548" cy="1958340"/>
            <a:chOff x="933450" y="2346960"/>
            <a:chExt cx="5559548" cy="1958340"/>
          </a:xfrm>
        </p:grpSpPr>
        <p:sp>
          <p:nvSpPr>
            <p:cNvPr id="17" name="TextBox 17"/>
            <p:cNvSpPr txBox="1"/>
            <p:nvPr/>
          </p:nvSpPr>
          <p:spPr>
            <a:xfrm>
              <a:off x="946404" y="2346960"/>
              <a:ext cx="21073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4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MR FLAG BATTLE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3450" y="2752725"/>
              <a:ext cx="512673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混合现实夺旗大战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1832" y="3678555"/>
              <a:ext cx="55511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Unity + Pico 4 Ultra Enterprise + Go 后端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2500" y="4286250"/>
              <a:ext cx="2667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945642" y="4807268"/>
            <a:ext cx="1104138" cy="727138"/>
            <a:chOff x="945642" y="4807268"/>
            <a:chExt cx="1104138" cy="727138"/>
          </a:xfrm>
        </p:grpSpPr>
        <p:sp>
          <p:nvSpPr>
            <p:cNvPr id="22" name="TextBox 22"/>
            <p:cNvSpPr txBox="1"/>
            <p:nvPr/>
          </p:nvSpPr>
          <p:spPr>
            <a:xfrm>
              <a:off x="945642" y="4807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项目总结汇报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529971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2026.07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8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35736" y="501015"/>
            <a:ext cx="1159764" cy="1106805"/>
            <a:chOff x="935736" y="501015"/>
            <a:chExt cx="1159764" cy="1106805"/>
          </a:xfrm>
        </p:grpSpPr>
        <p:sp>
          <p:nvSpPr>
            <p:cNvPr id="5" name="TextBox 5"/>
            <p:cNvSpPr txBox="1"/>
            <p:nvPr/>
          </p:nvSpPr>
          <p:spPr>
            <a:xfrm>
              <a:off x="935736" y="501015"/>
              <a:ext cx="110638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 录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1066800"/>
              <a:ext cx="1143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880" y="1314450"/>
              <a:ext cx="9966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CONTENTS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26642" y="2106930"/>
            <a:ext cx="9633966" cy="4046601"/>
            <a:chOff x="1326642" y="2106930"/>
            <a:chExt cx="9633966" cy="4046601"/>
          </a:xfrm>
        </p:grpSpPr>
        <p:grpSp>
          <p:nvGrpSpPr>
            <p:cNvPr id="15" name="Group 15"/>
            <p:cNvGrpSpPr/>
            <p:nvPr/>
          </p:nvGrpSpPr>
          <p:grpSpPr>
            <a:xfrm>
              <a:off x="1326642" y="2106930"/>
              <a:ext cx="9633966" cy="712470"/>
              <a:chOff x="1326642" y="2106930"/>
              <a:chExt cx="9633966" cy="71247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326642" y="21402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1905000" y="2114550"/>
                <a:ext cx="190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084832" y="2106930"/>
                <a:ext cx="20991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项目介绍与意义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089404" y="2489835"/>
                <a:ext cx="23222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项目背景 / 项目介绍 / 项目意义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38073" y="2187892"/>
                <a:ext cx="6225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03 — 06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1333500" y="2809875"/>
                <a:ext cx="962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620250" h="9525">
                    <a:moveTo>
                      <a:pt x="0" y="0"/>
                    </a:moveTo>
                    <a:lnTo>
                      <a:pt x="96202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1326642" y="3249930"/>
              <a:ext cx="9633966" cy="712470"/>
              <a:chOff x="1326642" y="3249930"/>
              <a:chExt cx="9633966" cy="71247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326642" y="32832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905000" y="3257550"/>
                <a:ext cx="190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084832" y="3249930"/>
                <a:ext cx="26928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前期设计与最终实现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089404" y="3632835"/>
                <a:ext cx="47696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游戏流程与构筑要素 / 开发计划 / 需求分析与设计文档 / 最终实现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338073" y="3330892"/>
                <a:ext cx="6225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07 — 12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1333500" y="3952875"/>
                <a:ext cx="962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620250" h="9525">
                    <a:moveTo>
                      <a:pt x="0" y="0"/>
                    </a:moveTo>
                    <a:lnTo>
                      <a:pt x="96202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1326642" y="4392930"/>
              <a:ext cx="9633966" cy="712470"/>
              <a:chOff x="1326642" y="4392930"/>
              <a:chExt cx="9633966" cy="71247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326642" y="44262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905000" y="4400550"/>
                <a:ext cx="190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084832" y="4392930"/>
                <a:ext cx="120868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工作汇报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089404" y="4775835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各成员工作内容概览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338073" y="4473892"/>
                <a:ext cx="6225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13 — 14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1333500" y="5095875"/>
                <a:ext cx="962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620250" h="9525">
                    <a:moveTo>
                      <a:pt x="0" y="0"/>
                    </a:moveTo>
                    <a:lnTo>
                      <a:pt x="96202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1326642" y="5535930"/>
              <a:ext cx="9633966" cy="617601"/>
              <a:chOff x="1326642" y="5535930"/>
              <a:chExt cx="9633966" cy="617601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1326642" y="5569268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1905000" y="5543550"/>
                <a:ext cx="190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084832" y="5535930"/>
                <a:ext cx="15055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思考与收获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089404" y="5918835"/>
                <a:ext cx="19749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技术与管理收获 / 未来展望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338073" y="5616892"/>
                <a:ext cx="6225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15 — 17</a:t>
                </a:r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33450" y="1257300"/>
            <a:ext cx="3896982" cy="1941195"/>
            <a:chOff x="933450" y="1257300"/>
            <a:chExt cx="3896982" cy="1941195"/>
          </a:xfrm>
        </p:grpSpPr>
        <p:sp>
          <p:nvSpPr>
            <p:cNvPr id="5" name="TextBox 5"/>
            <p:cNvSpPr txBox="1"/>
            <p:nvPr/>
          </p:nvSpPr>
          <p:spPr>
            <a:xfrm>
              <a:off x="933450" y="1257300"/>
              <a:ext cx="971017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chemeClr val="accent1">
                      <a:alphaMod val="15000"/>
                    </a:schemeClr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3450" y="2436495"/>
              <a:ext cx="389698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项目介绍与意义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3143250"/>
              <a:ext cx="1905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14400" y="3727132"/>
            <a:ext cx="3019044" cy="2616899"/>
            <a:chOff x="914400" y="3727132"/>
            <a:chExt cx="3019044" cy="2616899"/>
          </a:xfrm>
        </p:grpSpPr>
        <p:sp>
          <p:nvSpPr>
            <p:cNvPr id="9" name="TextBox 9"/>
            <p:cNvSpPr txBox="1"/>
            <p:nvPr/>
          </p:nvSpPr>
          <p:spPr>
            <a:xfrm>
              <a:off x="944118" y="3727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本板块涵盖以下内容：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14400" y="4231958"/>
              <a:ext cx="2534412" cy="588073"/>
              <a:chOff x="914400" y="4231958"/>
              <a:chExt cx="2534412" cy="588073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914400" y="4305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72718" y="4231958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项目背景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75004" y="4585335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开发工具与环境、目标受众分析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14400" y="4993958"/>
              <a:ext cx="2372868" cy="588073"/>
              <a:chOff x="914400" y="4993958"/>
              <a:chExt cx="2372868" cy="588073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914400" y="506730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72718" y="4993958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项目介绍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75004" y="5347335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游戏核心玩法、主要功能概述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14400" y="5755958"/>
              <a:ext cx="3019044" cy="588073"/>
              <a:chOff x="914400" y="5755958"/>
              <a:chExt cx="3019044" cy="588073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914400" y="582930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72718" y="5755958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项目意义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75004" y="6109335"/>
                <a:ext cx="27584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项目本身的价值与团队成员的个人收获</a:t>
                </a:r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375285"/>
            <a:ext cx="1554023" cy="528066"/>
            <a:chOff x="938784" y="375285"/>
            <a:chExt cx="1554023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3752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项目背景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8572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52500" y="1333500"/>
            <a:ext cx="4953000" cy="3048000"/>
            <a:chOff x="952500" y="1333500"/>
            <a:chExt cx="4953000" cy="3048000"/>
          </a:xfrm>
        </p:grpSpPr>
        <p:sp>
          <p:nvSpPr>
            <p:cNvPr id="8" name="Rectangle 8"/>
            <p:cNvSpPr/>
            <p:nvPr/>
          </p:nvSpPr>
          <p:spPr>
            <a:xfrm>
              <a:off x="952500" y="1333500"/>
              <a:ext cx="4953000" cy="3048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29106" y="15201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开发工具与环境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238250" y="2000250"/>
              <a:ext cx="4381500" cy="457200"/>
              <a:chOff x="1238250" y="2000250"/>
              <a:chExt cx="4381500" cy="4572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238250" y="2000250"/>
                <a:ext cx="4381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421130" y="2124075"/>
                <a:ext cx="26997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Unity 2022.3.62f3c1 (LTS)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38250" y="2571750"/>
              <a:ext cx="4381500" cy="457200"/>
              <a:chOff x="1238250" y="2571750"/>
              <a:chExt cx="4381500" cy="457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238250" y="2571750"/>
                <a:ext cx="4381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421130" y="2695575"/>
                <a:ext cx="33048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Pico 4 Ultra Enterprise (Android)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238250" y="3143250"/>
              <a:ext cx="4381500" cy="457200"/>
              <a:chOff x="1238250" y="3143250"/>
              <a:chExt cx="4381500" cy="4572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238250" y="3143250"/>
                <a:ext cx="4381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421130" y="3267075"/>
                <a:ext cx="26405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Pico Integration SDK 3.4.0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238250" y="3714750"/>
              <a:ext cx="4381500" cy="457200"/>
              <a:chOff x="1238250" y="3714750"/>
              <a:chExt cx="4381500" cy="4572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238250" y="3714750"/>
                <a:ext cx="4381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421130" y="3838575"/>
                <a:ext cx="27329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Go 语言后端 + HTTP/WS/UDP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6286500" y="1333500"/>
            <a:ext cx="4953000" cy="3048000"/>
            <a:chOff x="6286500" y="1333500"/>
            <a:chExt cx="4953000" cy="30480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333500"/>
              <a:ext cx="4953000" cy="3048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63106" y="1520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游戏受众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6572250" y="2000250"/>
              <a:ext cx="4381500" cy="457200"/>
              <a:chOff x="6572250" y="2000250"/>
              <a:chExt cx="4381500" cy="4572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572250" y="2000250"/>
                <a:ext cx="4381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755130" y="2124075"/>
                <a:ext cx="227685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MR 混合现实体验爱好者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572250" y="2571750"/>
              <a:ext cx="4381500" cy="457200"/>
              <a:chOff x="6572250" y="2571750"/>
              <a:chExt cx="4381500" cy="4572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572250" y="2571750"/>
                <a:ext cx="4381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755130" y="2695575"/>
                <a:ext cx="16037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Pico VR 头显用户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72250" y="3143250"/>
              <a:ext cx="4381500" cy="457200"/>
              <a:chOff x="6572250" y="3143250"/>
              <a:chExt cx="4381500" cy="4572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3143250"/>
                <a:ext cx="4381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130" y="32670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双人联机对战玩家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572250" y="3714750"/>
              <a:ext cx="4381500" cy="457200"/>
              <a:chOff x="6572250" y="3714750"/>
              <a:chExt cx="4381500" cy="4572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572250" y="3714750"/>
                <a:ext cx="4381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55130" y="3838575"/>
                <a:ext cx="30744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空间计算 / 真实环境交互技术用户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375285"/>
            <a:ext cx="1554023" cy="528066"/>
            <a:chOff x="938784" y="375285"/>
            <a:chExt cx="1554023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3752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项目介绍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8572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43356" y="1186815"/>
            <a:ext cx="7889182" cy="352044"/>
            <a:chOff x="943356" y="1186815"/>
            <a:chExt cx="788918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943356" y="1186815"/>
              <a:ext cx="78891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一款基于 Pico 4 Ultra Enterprise 的双人混合现实（MR）夺旗对战游戏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2500" y="1762125"/>
            <a:ext cx="11861006" cy="1143000"/>
            <a:chOff x="952500" y="1762125"/>
            <a:chExt cx="11861006" cy="1143000"/>
          </a:xfrm>
        </p:grpSpPr>
        <p:sp>
          <p:nvSpPr>
            <p:cNvPr id="10" name="Rectangle 10"/>
            <p:cNvSpPr/>
            <p:nvPr/>
          </p:nvSpPr>
          <p:spPr>
            <a:xfrm>
              <a:off x="952500" y="1762125"/>
              <a:ext cx="10287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24356" y="1920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核心玩法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5880" y="2314575"/>
              <a:ext cx="11487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在限定时间内，玩家佩戴头显在真实空间中抓取虚拟旗帜得分。单人 30 秒挑战 / 双人实时联机对战，Go 后端仲裁游戏逻辑。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3238500"/>
            <a:ext cx="10287000" cy="1428750"/>
            <a:chOff x="952500" y="3238500"/>
            <a:chExt cx="10287000" cy="1428750"/>
          </a:xfrm>
        </p:grpSpPr>
        <p:sp>
          <p:nvSpPr>
            <p:cNvPr id="14" name="Rectangle 14"/>
            <p:cNvSpPr/>
            <p:nvPr/>
          </p:nvSpPr>
          <p:spPr>
            <a:xfrm>
              <a:off x="952500" y="3238500"/>
              <a:ext cx="3190875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32154" y="34899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29868" y="37271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地图编辑器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2154" y="4061460"/>
              <a:ext cx="1787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XR 手柄搭建自定义场景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505325" y="3238500"/>
              <a:ext cx="3190875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84979" y="34899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2693" y="3727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地图同步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84979" y="4061460"/>
              <a:ext cx="1885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WebSocket 云端推送地图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48625" y="3238500"/>
              <a:ext cx="3190875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28279" y="34899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25993" y="3727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实时同步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8279" y="4061460"/>
              <a:ext cx="1970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UDP 30Hz 位置 + 空间锚点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2500" y="5048250"/>
            <a:ext cx="10287000" cy="952500"/>
            <a:chOff x="952500" y="5048250"/>
            <a:chExt cx="10287000" cy="952500"/>
          </a:xfrm>
        </p:grpSpPr>
        <p:sp>
          <p:nvSpPr>
            <p:cNvPr id="27" name="Rectangle 27"/>
            <p:cNvSpPr/>
            <p:nvPr/>
          </p:nvSpPr>
          <p:spPr>
            <a:xfrm>
              <a:off x="952500" y="5048250"/>
              <a:ext cx="4953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25118" y="52225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单人模式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26642" y="5550218"/>
              <a:ext cx="2448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30 秒限时夺旗挑战，独立计分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5048250"/>
              <a:ext cx="4953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118" y="52225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联机模式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0642" y="55502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双人局域网实时对战，服务端逻辑仲裁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375285"/>
            <a:ext cx="1554023" cy="528066"/>
            <a:chOff x="938784" y="375285"/>
            <a:chExt cx="1554023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3752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项目意义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8572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43356" y="1186815"/>
            <a:ext cx="4866894" cy="2747010"/>
            <a:chOff x="943356" y="1186815"/>
            <a:chExt cx="4866894" cy="2747010"/>
          </a:xfrm>
        </p:grpSpPr>
        <p:sp>
          <p:nvSpPr>
            <p:cNvPr id="8" name="TextBox 8"/>
            <p:cNvSpPr txBox="1"/>
            <p:nvPr/>
          </p:nvSpPr>
          <p:spPr>
            <a:xfrm>
              <a:off x="943356" y="11868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对项目的意义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952500" y="1666875"/>
              <a:ext cx="4857750" cy="495300"/>
              <a:chOff x="952500" y="1666875"/>
              <a:chExt cx="4857750" cy="4953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52500" y="1666875"/>
                <a:ext cx="48577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36142" y="1835468"/>
                <a:ext cx="34509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探索 MR 混合现实技术在游戏领域的应用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952500" y="2257425"/>
              <a:ext cx="4857750" cy="495300"/>
              <a:chOff x="952500" y="2257425"/>
              <a:chExt cx="4857750" cy="4953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952500" y="2257425"/>
                <a:ext cx="48577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36142" y="2426018"/>
                <a:ext cx="40366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实现 空间定位 → 编辑 → 对战 → 同步 的 MR 闭环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52500" y="2847975"/>
              <a:ext cx="4857750" cy="495300"/>
              <a:chOff x="952500" y="2847975"/>
              <a:chExt cx="4857750" cy="4953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952500" y="2847975"/>
                <a:ext cx="48577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36142" y="3016568"/>
                <a:ext cx="3485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打通 Unity 客户端与 Go 服务端的全栈链路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52500" y="3438525"/>
              <a:ext cx="4857750" cy="495300"/>
              <a:chOff x="952500" y="3438525"/>
              <a:chExt cx="4857750" cy="4953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952500" y="3438525"/>
                <a:ext cx="48577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36142" y="3607118"/>
                <a:ext cx="36485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为 Pico 平台 MR 多人交互应用提供参考方案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6372606" y="1186815"/>
            <a:ext cx="4866894" cy="3337560"/>
            <a:chOff x="6372606" y="1186815"/>
            <a:chExt cx="4866894" cy="3337560"/>
          </a:xfrm>
        </p:grpSpPr>
        <p:sp>
          <p:nvSpPr>
            <p:cNvPr id="22" name="TextBox 22"/>
            <p:cNvSpPr txBox="1"/>
            <p:nvPr/>
          </p:nvSpPr>
          <p:spPr>
            <a:xfrm>
              <a:off x="6372606" y="11868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对成员的意义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381750" y="1666875"/>
              <a:ext cx="4857750" cy="495300"/>
              <a:chOff x="6381750" y="1666875"/>
              <a:chExt cx="4857750" cy="4953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381750" y="1666875"/>
                <a:ext cx="48577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565392" y="1835468"/>
                <a:ext cx="33775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深入学习 Unity XR 开发与 Pico SDK 集成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381750" y="2257425"/>
              <a:ext cx="4857750" cy="495300"/>
              <a:chOff x="6381750" y="2257425"/>
              <a:chExt cx="4857750" cy="4953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381750" y="2257425"/>
                <a:ext cx="48577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565392" y="2426018"/>
                <a:ext cx="32589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掌握 MR 空间锚点创建与应用核心技术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381750" y="2847975"/>
              <a:ext cx="4857750" cy="495300"/>
              <a:chOff x="6381750" y="2847975"/>
              <a:chExt cx="4857750" cy="4953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381750" y="2847975"/>
                <a:ext cx="48577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565392" y="3016568"/>
                <a:ext cx="38364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积累 WebSocket / UDP 实时网络通信实战经验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381750" y="3438525"/>
              <a:ext cx="4857750" cy="495300"/>
              <a:chOff x="6381750" y="3438525"/>
              <a:chExt cx="4857750" cy="4953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381750" y="3438525"/>
                <a:ext cx="48577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565392" y="3607118"/>
                <a:ext cx="320320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理解客户端-服务端协议设计与协作流程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381750" y="4029075"/>
              <a:ext cx="4857750" cy="495300"/>
              <a:chOff x="6381750" y="4029075"/>
              <a:chExt cx="4857750" cy="4953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381750" y="4029075"/>
                <a:ext cx="485775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565392" y="41976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锻炼复杂系统架构设计与团队协作能力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952500" y="4667250"/>
            <a:ext cx="10287000" cy="762000"/>
            <a:chOff x="952500" y="4667250"/>
            <a:chExt cx="10287000" cy="762000"/>
          </a:xfrm>
        </p:grpSpPr>
        <p:sp>
          <p:nvSpPr>
            <p:cNvPr id="39" name="Rectangle 39"/>
            <p:cNvSpPr/>
            <p:nvPr/>
          </p:nvSpPr>
          <p:spPr>
            <a:xfrm>
              <a:off x="952500" y="4667250"/>
              <a:ext cx="10287000" cy="762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82747" y="4946332"/>
              <a:ext cx="54265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从零到完整 MR 游戏闭环 — 技术探索与团队成长并行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3">
                    <a:alpha val="10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33450" y="1257300"/>
            <a:ext cx="4999520" cy="1941195"/>
            <a:chOff x="933450" y="1257300"/>
            <a:chExt cx="4999520" cy="1941195"/>
          </a:xfrm>
        </p:grpSpPr>
        <p:sp>
          <p:nvSpPr>
            <p:cNvPr id="5" name="TextBox 5"/>
            <p:cNvSpPr txBox="1"/>
            <p:nvPr/>
          </p:nvSpPr>
          <p:spPr>
            <a:xfrm>
              <a:off x="933450" y="1257300"/>
              <a:ext cx="971017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chemeClr val="accent3">
                      <a:alphaMod val="12000"/>
                    </a:schemeClr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3450" y="2436495"/>
              <a:ext cx="499952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前期设计与最终实现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3143250"/>
              <a:ext cx="1905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14400" y="3727132"/>
            <a:ext cx="2274189" cy="2256283"/>
            <a:chOff x="914400" y="3727132"/>
            <a:chExt cx="2274189" cy="2256283"/>
          </a:xfrm>
        </p:grpSpPr>
        <p:sp>
          <p:nvSpPr>
            <p:cNvPr id="9" name="TextBox 9"/>
            <p:cNvSpPr txBox="1"/>
            <p:nvPr/>
          </p:nvSpPr>
          <p:spPr>
            <a:xfrm>
              <a:off x="944118" y="3727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本板块涵盖以下内容：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914400" y="4231958"/>
              <a:ext cx="2274189" cy="322707"/>
              <a:chOff x="914400" y="4231958"/>
              <a:chExt cx="2274189" cy="322707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914400" y="4305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72718" y="4231958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游戏流程与构筑要素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14400" y="4708208"/>
              <a:ext cx="1163574" cy="322707"/>
              <a:chOff x="914400" y="4708208"/>
              <a:chExt cx="1163574" cy="322707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914400" y="47815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72718" y="4708208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开发计划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914400" y="5184458"/>
              <a:ext cx="2274189" cy="322707"/>
              <a:chOff x="914400" y="5184458"/>
              <a:chExt cx="2274189" cy="322707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914400" y="525780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72718" y="5184458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需求分析与设计文档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14400" y="5660708"/>
              <a:ext cx="1163574" cy="322707"/>
              <a:chOff x="914400" y="5660708"/>
              <a:chExt cx="1163574" cy="322707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914400" y="5734050"/>
                <a:ext cx="76200" cy="762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72718" y="5660708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最终实现</a:t>
                </a:r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280035"/>
            <a:ext cx="3462261" cy="528066"/>
            <a:chOff x="938784" y="280035"/>
            <a:chExt cx="3462261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280035"/>
              <a:ext cx="34622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游戏流程与构筑要素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7429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996315"/>
            <a:ext cx="10668000" cy="1146810"/>
            <a:chOff x="762000" y="996315"/>
            <a:chExt cx="10668000" cy="1146810"/>
          </a:xfrm>
        </p:grpSpPr>
        <p:sp>
          <p:nvSpPr>
            <p:cNvPr id="8" name="TextBox 8"/>
            <p:cNvSpPr txBox="1"/>
            <p:nvPr/>
          </p:nvSpPr>
          <p:spPr>
            <a:xfrm>
              <a:off x="943356" y="996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游戏流程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62000" y="1476375"/>
              <a:ext cx="2095500" cy="666750"/>
              <a:chOff x="762000" y="1476375"/>
              <a:chExt cx="2095500" cy="666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476375"/>
                <a:ext cx="1905000" cy="66675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1">
                    <a:alpha val="50000"/>
                  </a:schemeClr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421406" y="1635442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主菜单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83042" y="1886902"/>
                <a:ext cx="6629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MainMenu</a:t>
                </a:r>
              </a:p>
            </p:txBody>
          </p:sp>
          <p:sp>
            <p:nvSpPr>
              <p:cNvPr id="12" name="Polygon 12"/>
              <p:cNvSpPr/>
              <p:nvPr/>
            </p:nvSpPr>
            <p:spPr>
              <a:xfrm>
                <a:off x="2762250" y="17526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2952750" y="1476375"/>
              <a:ext cx="2095500" cy="666750"/>
              <a:chOff x="2952750" y="1476375"/>
              <a:chExt cx="2095500" cy="666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952750" y="1476375"/>
                <a:ext cx="1905000" cy="66675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2">
                    <a:alpha val="50000"/>
                  </a:schemeClr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516744" y="163544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选择模式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297841" y="1886902"/>
                <a:ext cx="12148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Host / Join / Solo</a:t>
                </a:r>
              </a:p>
            </p:txBody>
          </p:sp>
          <p:sp>
            <p:nvSpPr>
              <p:cNvPr id="17" name="Polygon 17"/>
              <p:cNvSpPr/>
              <p:nvPr/>
            </p:nvSpPr>
            <p:spPr>
              <a:xfrm>
                <a:off x="4953000" y="17526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143500" y="1476375"/>
              <a:ext cx="2095500" cy="666750"/>
              <a:chOff x="5143500" y="1476375"/>
              <a:chExt cx="2095500" cy="666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143500" y="1476375"/>
                <a:ext cx="1905000" cy="66675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3">
                    <a:alpha val="50000"/>
                  </a:schemeClr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707494" y="163544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地图选择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740000" y="1886902"/>
                <a:ext cx="7120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MapSelect</a:t>
                </a:r>
              </a:p>
            </p:txBody>
          </p:sp>
          <p:sp>
            <p:nvSpPr>
              <p:cNvPr id="22" name="Polygon 22"/>
              <p:cNvSpPr/>
              <p:nvPr/>
            </p:nvSpPr>
            <p:spPr>
              <a:xfrm>
                <a:off x="7143750" y="17526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7334250" y="1476375"/>
              <a:ext cx="2095500" cy="666750"/>
              <a:chOff x="7334250" y="1476375"/>
              <a:chExt cx="2095500" cy="666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334250" y="1476375"/>
                <a:ext cx="1905000" cy="66675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rgbClr val="F59E0B">
                    <a:alpha val="50000"/>
                  </a:srgbClr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898244" y="163544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游戏对战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82929" y="1886902"/>
                <a:ext cx="14076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MRGame / MultiGame</a:t>
                </a:r>
              </a:p>
            </p:txBody>
          </p:sp>
          <p:sp>
            <p:nvSpPr>
              <p:cNvPr id="27" name="Polygon 27"/>
              <p:cNvSpPr/>
              <p:nvPr/>
            </p:nvSpPr>
            <p:spPr>
              <a:xfrm>
                <a:off x="9334500" y="17526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0"/>
                    </a:moveTo>
                    <a:lnTo>
                      <a:pt x="95250" y="571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F59E0B">
                  <a:alpha val="50000"/>
                </a:srgbClr>
              </a:solidFill>
              <a:ln>
                <a:noFill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9525000" y="1476375"/>
              <a:ext cx="1905000" cy="666750"/>
              <a:chOff x="9525000" y="1476375"/>
              <a:chExt cx="1905000" cy="666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9525000" y="1476375"/>
                <a:ext cx="1905000" cy="66675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6">
                    <a:alpha val="50000"/>
                  </a:schemeClr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088994" y="163544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显示得分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118789" y="188690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返回主菜单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943356" y="2663190"/>
            <a:ext cx="10391394" cy="2146935"/>
            <a:chOff x="943356" y="2663190"/>
            <a:chExt cx="10391394" cy="2146935"/>
          </a:xfrm>
        </p:grpSpPr>
        <p:sp>
          <p:nvSpPr>
            <p:cNvPr id="34" name="TextBox 34"/>
            <p:cNvSpPr txBox="1"/>
            <p:nvPr/>
          </p:nvSpPr>
          <p:spPr>
            <a:xfrm>
              <a:off x="943356" y="2663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构筑要素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" y="3095625"/>
              <a:ext cx="238125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85291" y="3315652"/>
              <a:ext cx="6155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OBJECTS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82243" y="3536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场景物体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84529" y="3870960"/>
              <a:ext cx="13868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Wall / Box / Pillar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84529" y="4109085"/>
              <a:ext cx="1816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Barrel / Ramp / Sphere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619500" y="3095625"/>
              <a:ext cx="238125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52291" y="331565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FLAGS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49243" y="3536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旗帜系统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51529" y="3870960"/>
              <a:ext cx="1421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Gold / Red / White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51529" y="4109085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抓取得分 + 重生机制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86500" y="3095625"/>
              <a:ext cx="238125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19291" y="33156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PLAYERS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16243" y="3536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玩家系统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18529" y="3870960"/>
              <a:ext cx="1619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LocalPlayer 发送位置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18529" y="4109085"/>
              <a:ext cx="1781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RemotePlayer 接收插值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53500" y="3095625"/>
              <a:ext cx="238125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86291" y="3315652"/>
              <a:ext cx="137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UI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83243" y="3536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界面系统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85529" y="3870960"/>
              <a:ext cx="1418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JoinPanel · 主菜单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85529" y="4109085"/>
              <a:ext cx="13289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MapSelect · 得分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280035"/>
            <a:ext cx="1554023" cy="528066"/>
            <a:chOff x="938784" y="280035"/>
            <a:chExt cx="1554023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28003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开发计划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7429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257300" y="1238250"/>
            <a:ext cx="10077450" cy="4972050"/>
            <a:chOff x="1257300" y="1238250"/>
            <a:chExt cx="10077450" cy="4972050"/>
          </a:xfrm>
        </p:grpSpPr>
        <p:sp>
          <p:nvSpPr>
            <p:cNvPr id="8" name="Line 8"/>
            <p:cNvSpPr/>
            <p:nvPr/>
          </p:nvSpPr>
          <p:spPr>
            <a:xfrm>
              <a:off x="1333500" y="1238250"/>
              <a:ext cx="9525" cy="4857750"/>
            </a:xfrm>
            <a:custGeom>
              <a:avLst/>
              <a:gdLst/>
              <a:ahLst/>
              <a:cxnLst/>
              <a:rect l="l" t="t" r="r" b="b"/>
              <a:pathLst>
                <a:path w="9525" h="4857750">
                  <a:moveTo>
                    <a:pt x="0" y="0"/>
                  </a:moveTo>
                  <a:lnTo>
                    <a:pt x="0" y="485775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257300" y="1638300"/>
              <a:ext cx="152400" cy="152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14500" y="1409700"/>
              <a:ext cx="45720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99666" y="1544002"/>
              <a:ext cx="548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7380" y="1724025"/>
              <a:ext cx="2642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Unity 项目搭建与 SDK 集成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257300" y="2686050"/>
              <a:ext cx="152400" cy="152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714500" y="2457450"/>
              <a:ext cx="45720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99666" y="2591752"/>
              <a:ext cx="548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PHASE 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7380" y="2771775"/>
              <a:ext cx="33401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单人游戏模式 — MRGame / MRFlag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257300" y="3733800"/>
              <a:ext cx="152400" cy="152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714500" y="3505200"/>
              <a:ext cx="45720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899666" y="3639502"/>
              <a:ext cx="548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PHASE 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97380" y="3819525"/>
              <a:ext cx="3136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 后端搭建 — HTTP / WS / UDP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257300" y="4781550"/>
              <a:ext cx="152400" cy="152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59E0B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14500" y="4552950"/>
              <a:ext cx="45720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899666" y="4687252"/>
              <a:ext cx="548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PHASE 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7380" y="4867275"/>
              <a:ext cx="32678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双人联机 — MultiGame / 网络同步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257300" y="5829300"/>
              <a:ext cx="152400" cy="152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14500" y="5600700"/>
              <a:ext cx="45720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99666" y="5735002"/>
              <a:ext cx="548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PHASE 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97380" y="5915025"/>
              <a:ext cx="2167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地图编辑器 + 地图同步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38416" y="1601152"/>
              <a:ext cx="548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PHASE 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43750" y="1857375"/>
              <a:ext cx="4191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3493" y="1993582"/>
              <a:ext cx="3248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模型替换 · UI 优化 · Bug 修复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75779" y="23279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替换旗帜 / 场景物 / 玩家模型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75779" y="2556510"/>
              <a:ext cx="2414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Addressables 构建 · 联机稳定性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280035"/>
            <a:ext cx="3462261" cy="528066"/>
            <a:chOff x="938784" y="280035"/>
            <a:chExt cx="3462261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280035"/>
              <a:ext cx="34622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需求分析与设计文档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7429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52500" y="1238250"/>
            <a:ext cx="10287000" cy="2286000"/>
            <a:chOff x="952500" y="1238250"/>
            <a:chExt cx="10287000" cy="2286000"/>
          </a:xfrm>
        </p:grpSpPr>
        <p:sp>
          <p:nvSpPr>
            <p:cNvPr id="8" name="Rectangle 8"/>
            <p:cNvSpPr/>
            <p:nvPr/>
          </p:nvSpPr>
          <p:spPr>
            <a:xfrm>
              <a:off x="952500" y="1238250"/>
              <a:ext cx="10287000" cy="2286000"/>
            </a:xfrm>
            <a:prstGeom prst="roundRect">
              <a:avLst>
                <a:gd name="adj" fmla="val 333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  <a:prstDash val="lgDash"/>
            </a:ln>
          </p:spPr>
        </p:sp>
        <p:sp>
          <p:nvSpPr>
            <p:cNvPr id="9" name="Line 9"/>
            <p:cNvSpPr/>
            <p:nvPr/>
          </p:nvSpPr>
          <p:spPr>
            <a:xfrm>
              <a:off x="1047750" y="16192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52500" y="1238250"/>
              <a:ext cx="10287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52500" y="1543050"/>
              <a:ext cx="10287000" cy="7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039868" y="24422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在此处插入需求分析文档截图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2500" y="3905250"/>
            <a:ext cx="10287000" cy="2286000"/>
            <a:chOff x="952500" y="3905250"/>
            <a:chExt cx="102870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952500" y="3905250"/>
              <a:ext cx="10287000" cy="2286000"/>
            </a:xfrm>
            <a:prstGeom prst="roundRect">
              <a:avLst>
                <a:gd name="adj" fmla="val 333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  <a:prstDash val="lgDash"/>
            </a:ln>
          </p:spPr>
        </p:sp>
        <p:sp>
          <p:nvSpPr>
            <p:cNvPr id="15" name="Line 15"/>
            <p:cNvSpPr/>
            <p:nvPr/>
          </p:nvSpPr>
          <p:spPr>
            <a:xfrm>
              <a:off x="1047750" y="42862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52500" y="3905250"/>
              <a:ext cx="10287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52500" y="4210050"/>
              <a:ext cx="10287000" cy="7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01412" y="5109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在此处插入设计文档截图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6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280035"/>
            <a:ext cx="3519508" cy="528066"/>
            <a:chOff x="938784" y="280035"/>
            <a:chExt cx="3519508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280035"/>
              <a:ext cx="35195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最终实现 — 实现成果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7429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762000" y="1095375"/>
            <a:ext cx="10239375" cy="2667000"/>
            <a:chOff x="762000" y="1095375"/>
            <a:chExt cx="10239375" cy="2667000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095375"/>
              <a:ext cx="3384454" cy="762000"/>
              <a:chOff x="762000" y="1095375"/>
              <a:chExt cx="3384454" cy="762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095375"/>
                <a:ext cx="3286125" cy="762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914400" y="1266825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63244" y="1296352"/>
                <a:ext cx="92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S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50442" y="1263968"/>
                <a:ext cx="28960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MR Video See-Through + 空间锚点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51966" y="1515428"/>
                <a:ext cx="19379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Pico Spatial Anchor 漂移校正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238625" y="1095375"/>
              <a:ext cx="3286125" cy="762000"/>
              <a:chOff x="4238625" y="1095375"/>
              <a:chExt cx="3286125" cy="762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238625" y="1095375"/>
                <a:ext cx="3286125" cy="762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4391025" y="1266825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439869" y="1296352"/>
                <a:ext cx="92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S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727067" y="1263968"/>
                <a:ext cx="1594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单人 30 秒夺旗模式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728591" y="1515428"/>
                <a:ext cx="17638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MRGameManager + MRFlag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715250" y="1095375"/>
              <a:ext cx="3286125" cy="762000"/>
              <a:chOff x="7715250" y="1095375"/>
              <a:chExt cx="3286125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715250" y="1095375"/>
                <a:ext cx="3286125" cy="762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7867650" y="1266825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916494" y="1296352"/>
                <a:ext cx="92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S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03692" y="12639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双人实时联机对战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205216" y="1515428"/>
                <a:ext cx="20177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MultiGameManager + 网络同步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62000" y="2047875"/>
              <a:ext cx="3286125" cy="762000"/>
              <a:chOff x="762000" y="2047875"/>
              <a:chExt cx="3286125" cy="762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62000" y="2047875"/>
                <a:ext cx="3286125" cy="762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914400" y="2219325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63244" y="2248852"/>
                <a:ext cx="92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50442" y="2216468"/>
                <a:ext cx="12426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XR 地图编辑器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51966" y="2467928"/>
                <a:ext cx="14665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放置 / 选择 / 编辑物体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238625" y="2047875"/>
              <a:ext cx="3286125" cy="762000"/>
              <a:chOff x="4238625" y="2047875"/>
              <a:chExt cx="3286125" cy="762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238625" y="2047875"/>
                <a:ext cx="3286125" cy="762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4391025" y="2219325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439869" y="2248852"/>
                <a:ext cx="92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S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067" y="22164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地图云端同步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728591" y="2467928"/>
                <a:ext cx="16494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WebSocket 场景地图协议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715250" y="2047875"/>
              <a:ext cx="3286125" cy="762000"/>
              <a:chOff x="7715250" y="2047875"/>
              <a:chExt cx="3286125" cy="762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715250" y="2047875"/>
                <a:ext cx="3286125" cy="762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7867650" y="2219325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916494" y="2248852"/>
                <a:ext cx="92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203692" y="2216468"/>
                <a:ext cx="158831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REST 房间管理 API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05216" y="2467928"/>
                <a:ext cx="16291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创建 / 开始 / 停止 / 查询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62000" y="3000375"/>
              <a:ext cx="3286125" cy="762000"/>
              <a:chOff x="762000" y="3000375"/>
              <a:chExt cx="3286125" cy="7620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762000" y="3000375"/>
                <a:ext cx="3286125" cy="762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914400" y="3171825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63244" y="3201352"/>
                <a:ext cx="92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S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250442" y="3168968"/>
                <a:ext cx="17527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WebSocket 事件通信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251966" y="3420428"/>
                <a:ext cx="14817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JSON 消息 + 心跳保活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238625" y="3000375"/>
              <a:ext cx="3286125" cy="762000"/>
              <a:chOff x="4238625" y="3000375"/>
              <a:chExt cx="3286125" cy="762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238625" y="3000375"/>
                <a:ext cx="3286125" cy="762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4391025" y="3171825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4439869" y="3201352"/>
                <a:ext cx="92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S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727067" y="3168968"/>
                <a:ext cx="16189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UDP 30Hz 位置同步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728591" y="3420428"/>
                <a:ext cx="18685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MsgPack 编解码 + Go 端匹配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7715250" y="3000375"/>
              <a:ext cx="3286125" cy="762000"/>
              <a:chOff x="7715250" y="3000375"/>
              <a:chExt cx="3286125" cy="7620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7715250" y="3000375"/>
                <a:ext cx="3286125" cy="762000"/>
              </a:xfrm>
              <a:prstGeom prst="roundRect">
                <a:avLst>
                  <a:gd name="adj" fmla="val 7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7867650" y="3171825"/>
                <a:ext cx="190500" cy="190500"/>
              </a:xfrm>
              <a:prstGeom prst="roundRect">
                <a:avLst>
                  <a:gd name="adj" fmla="val 20000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916494" y="3201352"/>
                <a:ext cx="928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S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03692" y="3168968"/>
                <a:ext cx="2040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模型替换支持 + 资源管理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05216" y="3420428"/>
                <a:ext cx="16651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Addressables 预制体引用</a:t>
                </a:r>
              </a:p>
            </p:txBody>
          </p:sp>
        </p:grpSp>
      </p:grpSp>
      <p:sp>
        <p:nvSpPr>
          <p:cNvPr id="63" name="TextBox 63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280035"/>
            <a:ext cx="2698966" cy="528066"/>
            <a:chOff x="938784" y="280035"/>
            <a:chExt cx="2698966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280035"/>
              <a:ext cx="26989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技术亮点与演示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7429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52500" y="1238250"/>
            <a:ext cx="4762500" cy="3810000"/>
            <a:chOff x="952500" y="1238250"/>
            <a:chExt cx="4762500" cy="3810000"/>
          </a:xfrm>
        </p:grpSpPr>
        <p:sp>
          <p:nvSpPr>
            <p:cNvPr id="8" name="Rectangle 8"/>
            <p:cNvSpPr/>
            <p:nvPr/>
          </p:nvSpPr>
          <p:spPr>
            <a:xfrm>
              <a:off x="952500" y="1238250"/>
              <a:ext cx="4762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32916" y="1486852"/>
              <a:ext cx="884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HIGHLIGHT 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0630" y="17240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空间锚点共享坐标系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2154" y="2042160"/>
              <a:ext cx="3520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Pico Spatial Anchor 实现双人 MR 场景精确对齐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2571750"/>
              <a:ext cx="4762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32916" y="2820352"/>
              <a:ext cx="884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HIGHLIGHT 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0630" y="3057525"/>
              <a:ext cx="24606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MsgPack 自定义编解码器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2154" y="3375660"/>
              <a:ext cx="3304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C# 端与 Go 端格式严格一致，UDP 30Hz 同步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3905250"/>
              <a:ext cx="4762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32916" y="4153852"/>
              <a:ext cx="884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HIGHLIGHT 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0630" y="43910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开发简化模式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2154" y="4709160"/>
              <a:ext cx="4065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Go 后端自动创建默认房间，无需手动配置即可联机调试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191250" y="1238250"/>
            <a:ext cx="5048250" cy="3810000"/>
            <a:chOff x="6191250" y="1238250"/>
            <a:chExt cx="5048250" cy="3810000"/>
          </a:xfrm>
        </p:grpSpPr>
        <p:sp>
          <p:nvSpPr>
            <p:cNvPr id="21" name="Rectangle 21"/>
            <p:cNvSpPr/>
            <p:nvPr/>
          </p:nvSpPr>
          <p:spPr>
            <a:xfrm>
              <a:off x="6191250" y="1238250"/>
              <a:ext cx="5048250" cy="3810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  <a:prstDash val="lgDash"/>
            </a:ln>
          </p:spPr>
        </p:sp>
        <p:sp>
          <p:nvSpPr>
            <p:cNvPr id="22" name="Polygon 22"/>
            <p:cNvSpPr/>
            <p:nvPr/>
          </p:nvSpPr>
          <p:spPr>
            <a:xfrm>
              <a:off x="8477250" y="27622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0" y="762000"/>
                  </a:lnTo>
                  <a:lnTo>
                    <a:pt x="666750" y="381000"/>
                  </a:lnTo>
                  <a:close/>
                </a:path>
              </a:pathLst>
            </a:custGeom>
            <a:solidFill>
              <a:srgbClr val="64748B">
                <a:alpha val="3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82331" y="37757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在此处插入演示视频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33450" y="1733550"/>
            <a:ext cx="2243176" cy="1941195"/>
            <a:chOff x="933450" y="1733550"/>
            <a:chExt cx="2243176" cy="1941195"/>
          </a:xfrm>
        </p:grpSpPr>
        <p:sp>
          <p:nvSpPr>
            <p:cNvPr id="5" name="TextBox 5"/>
            <p:cNvSpPr txBox="1"/>
            <p:nvPr/>
          </p:nvSpPr>
          <p:spPr>
            <a:xfrm>
              <a:off x="933450" y="1733550"/>
              <a:ext cx="971017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chemeClr val="accent2">
                      <a:alphaMod val="12000"/>
                    </a:schemeClr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3450" y="2912745"/>
              <a:ext cx="224317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工作汇报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3619500"/>
              <a:ext cx="1905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44118" y="4203382"/>
            <a:ext cx="3348609" cy="322707"/>
            <a:chOff x="944118" y="4203382"/>
            <a:chExt cx="3348609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944118" y="42033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各成员在项目中的工作内容与贡献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280035"/>
            <a:ext cx="2317318" cy="528066"/>
            <a:chOff x="938784" y="280035"/>
            <a:chExt cx="2317318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28003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成员工作概览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7429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62000" y="1190625"/>
            <a:ext cx="5143500" cy="2381250"/>
            <a:chOff x="762000" y="1190625"/>
            <a:chExt cx="5143500" cy="2381250"/>
          </a:xfrm>
        </p:grpSpPr>
        <p:sp>
          <p:nvSpPr>
            <p:cNvPr id="8" name="Rectangle 8"/>
            <p:cNvSpPr/>
            <p:nvPr/>
          </p:nvSpPr>
          <p:spPr>
            <a:xfrm>
              <a:off x="762000" y="1190625"/>
              <a:ext cx="5143500" cy="2381250"/>
            </a:xfrm>
            <a:prstGeom prst="roundRect">
              <a:avLst>
                <a:gd name="adj" fmla="val 32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381125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06576" y="1587818"/>
              <a:ext cx="263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5356" y="15201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 成员姓名 ]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2500" y="2143125"/>
              <a:ext cx="4762500" cy="1238250"/>
            </a:xfrm>
            <a:prstGeom prst="roundRect">
              <a:avLst>
                <a:gd name="adj" fmla="val 461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00706" y="26993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在此处填写工作内容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1190625"/>
            <a:ext cx="5143500" cy="2381250"/>
            <a:chOff x="6286500" y="1190625"/>
            <a:chExt cx="5143500" cy="2381250"/>
          </a:xfrm>
        </p:grpSpPr>
        <p:sp>
          <p:nvSpPr>
            <p:cNvPr id="15" name="Rectangle 15"/>
            <p:cNvSpPr/>
            <p:nvPr/>
          </p:nvSpPr>
          <p:spPr>
            <a:xfrm>
              <a:off x="6286500" y="1190625"/>
              <a:ext cx="5143500" cy="2381250"/>
            </a:xfrm>
            <a:prstGeom prst="roundRect">
              <a:avLst>
                <a:gd name="adj" fmla="val 32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77000" y="1381125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31076" y="1587818"/>
              <a:ext cx="263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29856" y="15201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 成员姓名 ]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77000" y="2143125"/>
              <a:ext cx="4762500" cy="1238250"/>
            </a:xfrm>
            <a:prstGeom prst="roundRect">
              <a:avLst>
                <a:gd name="adj" fmla="val 461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25206" y="26993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在此处填写工作内容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3857625"/>
            <a:ext cx="5143500" cy="2381250"/>
            <a:chOff x="762000" y="3857625"/>
            <a:chExt cx="5143500" cy="2381250"/>
          </a:xfrm>
        </p:grpSpPr>
        <p:sp>
          <p:nvSpPr>
            <p:cNvPr id="22" name="Rectangle 22"/>
            <p:cNvSpPr/>
            <p:nvPr/>
          </p:nvSpPr>
          <p:spPr>
            <a:xfrm>
              <a:off x="762000" y="3857625"/>
              <a:ext cx="5143500" cy="2381250"/>
            </a:xfrm>
            <a:prstGeom prst="roundRect">
              <a:avLst>
                <a:gd name="adj" fmla="val 32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2500" y="4048125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15000"/>
              </a:scheme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06576" y="4254818"/>
              <a:ext cx="263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5356" y="41871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 成员姓名 ]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52500" y="4810125"/>
              <a:ext cx="4762500" cy="1238250"/>
            </a:xfrm>
            <a:prstGeom prst="roundRect">
              <a:avLst>
                <a:gd name="adj" fmla="val 461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600706" y="53663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在此处填写工作内容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3857625"/>
            <a:ext cx="5143500" cy="2381250"/>
            <a:chOff x="6286500" y="3857625"/>
            <a:chExt cx="51435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6286500" y="3857625"/>
              <a:ext cx="5143500" cy="2381250"/>
            </a:xfrm>
            <a:prstGeom prst="roundRect">
              <a:avLst>
                <a:gd name="adj" fmla="val 32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7000" y="4048125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5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31076" y="4254818"/>
              <a:ext cx="263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M4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29856" y="4187190"/>
              <a:ext cx="1468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 成员姓名 ]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7000" y="4810125"/>
              <a:ext cx="4762500" cy="1238250"/>
            </a:xfrm>
            <a:prstGeom prst="roundRect">
              <a:avLst>
                <a:gd name="adj" fmla="val 461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  <a:custDash>
                <a:ds d="600000" sp="400000"/>
              </a:custDash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25206" y="53663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在此处填写工作内容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6">
                    <a:alpha val="10000"/>
                  </a:schemeClr>
                </a:gs>
                <a:gs pos="100000">
                  <a:schemeClr val="accent6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33450" y="1257300"/>
            <a:ext cx="2794444" cy="1941195"/>
            <a:chOff x="933450" y="1257300"/>
            <a:chExt cx="2794444" cy="1941195"/>
          </a:xfrm>
        </p:grpSpPr>
        <p:sp>
          <p:nvSpPr>
            <p:cNvPr id="5" name="TextBox 5"/>
            <p:cNvSpPr txBox="1"/>
            <p:nvPr/>
          </p:nvSpPr>
          <p:spPr>
            <a:xfrm>
              <a:off x="933450" y="1257300"/>
              <a:ext cx="971017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chemeClr val="accent6">
                      <a:alphaMod val="12000"/>
                    </a:schemeClr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3450" y="2436495"/>
              <a:ext cx="279444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思考与收获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3143250"/>
              <a:ext cx="1905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14400" y="3727132"/>
            <a:ext cx="2695956" cy="2016824"/>
            <a:chOff x="914400" y="3727132"/>
            <a:chExt cx="2695956" cy="2016824"/>
          </a:xfrm>
        </p:grpSpPr>
        <p:sp>
          <p:nvSpPr>
            <p:cNvPr id="9" name="TextBox 9"/>
            <p:cNvSpPr txBox="1"/>
            <p:nvPr/>
          </p:nvSpPr>
          <p:spPr>
            <a:xfrm>
              <a:off x="944118" y="3727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本板块涵盖以下内容：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14400" y="4327208"/>
              <a:ext cx="2695956" cy="559498"/>
              <a:chOff x="914400" y="4327208"/>
              <a:chExt cx="2695956" cy="559498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914400" y="44005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72718" y="4327208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技术与管理收获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75004" y="4652010"/>
                <a:ext cx="24353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项目全过程的经验沉淀与能力提升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14400" y="5184458"/>
              <a:ext cx="2695956" cy="559498"/>
              <a:chOff x="914400" y="5184458"/>
              <a:chExt cx="2695956" cy="559498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914400" y="525780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72718" y="5184458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未来展望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75004" y="5509260"/>
                <a:ext cx="24353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项目的持续优化方向与扩展可能性</a:t>
                </a:r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280035"/>
            <a:ext cx="2698966" cy="528066"/>
            <a:chOff x="938784" y="280035"/>
            <a:chExt cx="2698966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280035"/>
              <a:ext cx="26989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技术与管理收获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7429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943356" y="1043940"/>
            <a:ext cx="4771644" cy="3099435"/>
            <a:chOff x="943356" y="1043940"/>
            <a:chExt cx="4771644" cy="3099435"/>
          </a:xfrm>
        </p:grpSpPr>
        <p:sp>
          <p:nvSpPr>
            <p:cNvPr id="8" name="TextBox 8"/>
            <p:cNvSpPr txBox="1"/>
            <p:nvPr/>
          </p:nvSpPr>
          <p:spPr>
            <a:xfrm>
              <a:off x="943356" y="1043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技术收获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952500" y="1476375"/>
              <a:ext cx="4762500" cy="457200"/>
              <a:chOff x="952500" y="1476375"/>
              <a:chExt cx="4762500" cy="4572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52500" y="1476375"/>
                <a:ext cx="4762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36142" y="1625918"/>
                <a:ext cx="29477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Unity XR 开发体系与 Pico SDK 集成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952500" y="2028825"/>
              <a:ext cx="4762500" cy="457200"/>
              <a:chOff x="952500" y="2028825"/>
              <a:chExt cx="4762500" cy="4572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952500" y="2028825"/>
                <a:ext cx="4762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36142" y="2178368"/>
                <a:ext cx="33495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Video See-Through 与空间锚点核心技术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52500" y="2581275"/>
              <a:ext cx="4762500" cy="457200"/>
              <a:chOff x="952500" y="2581275"/>
              <a:chExt cx="4762500" cy="4572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952500" y="2581275"/>
                <a:ext cx="4762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36142" y="2730818"/>
                <a:ext cx="30365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UDP / WebSocket 实时网络通信实战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52500" y="3133725"/>
              <a:ext cx="4762500" cy="457200"/>
              <a:chOff x="952500" y="3133725"/>
              <a:chExt cx="4762500" cy="4572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952500" y="3133725"/>
                <a:ext cx="4762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36142" y="3283268"/>
                <a:ext cx="26579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客户端-服务端协议设计最佳实践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952500" y="3686175"/>
              <a:ext cx="4762500" cy="457200"/>
              <a:chOff x="952500" y="3686175"/>
              <a:chExt cx="4762500" cy="4572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52500" y="3686175"/>
                <a:ext cx="4762500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36142" y="3835718"/>
                <a:ext cx="28713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Addressables 资源管理与构建流程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6467856" y="1043940"/>
            <a:ext cx="4771644" cy="3670935"/>
            <a:chOff x="6467856" y="1043940"/>
            <a:chExt cx="4771644" cy="3670935"/>
          </a:xfrm>
        </p:grpSpPr>
        <p:sp>
          <p:nvSpPr>
            <p:cNvPr id="25" name="TextBox 25"/>
            <p:cNvSpPr txBox="1"/>
            <p:nvPr/>
          </p:nvSpPr>
          <p:spPr>
            <a:xfrm>
              <a:off x="6467856" y="10439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项目管理收获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477000" y="1476375"/>
              <a:ext cx="4762500" cy="952500"/>
              <a:chOff x="6477000" y="1476375"/>
              <a:chExt cx="4762500" cy="952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477000" y="1476375"/>
                <a:ext cx="4762500" cy="952500"/>
              </a:xfrm>
              <a:prstGeom prst="roundRect">
                <a:avLst>
                  <a:gd name="adj" fmla="val 60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659880" y="1628775"/>
                <a:ext cx="23267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Git 版本控制与团队协作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61404" y="1918335"/>
                <a:ext cx="31384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多人分支管理、PR Review 流程、冲突解决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477000" y="2619375"/>
              <a:ext cx="4762500" cy="952500"/>
              <a:chOff x="6477000" y="2619375"/>
              <a:chExt cx="4762500" cy="952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477000" y="2619375"/>
                <a:ext cx="4762500" cy="952500"/>
              </a:xfrm>
              <a:prstGeom prst="roundRect">
                <a:avLst>
                  <a:gd name="adj" fmla="val 60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659880" y="2771775"/>
                <a:ext cx="14994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模块化架构设计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661404" y="3061335"/>
                <a:ext cx="32125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网络层、逻辑层、UI 层、MR 层的分层解耦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77000" y="3762375"/>
              <a:ext cx="4762500" cy="952500"/>
              <a:chOff x="6477000" y="3762375"/>
              <a:chExt cx="4762500" cy="952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477000" y="3762375"/>
                <a:ext cx="4762500" cy="952500"/>
              </a:xfrm>
              <a:prstGeom prst="roundRect">
                <a:avLst>
                  <a:gd name="adj" fmla="val 6000"/>
                </a:avLst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659880" y="391477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代码保护策略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661404" y="4204335"/>
                <a:ext cx="44500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与后端协议强绑定的关键文件集中管理，DO NOT EDIT 清单</a:t>
                </a:r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38784" y="375285"/>
            <a:ext cx="1554023" cy="528066"/>
            <a:chOff x="938784" y="375285"/>
            <a:chExt cx="1554023" cy="528066"/>
          </a:xfrm>
        </p:grpSpPr>
        <p:sp>
          <p:nvSpPr>
            <p:cNvPr id="5" name="TextBox 5"/>
            <p:cNvSpPr txBox="1"/>
            <p:nvPr/>
          </p:nvSpPr>
          <p:spPr>
            <a:xfrm>
              <a:off x="938784" y="3752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未来展望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857250"/>
              <a:ext cx="762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952500" y="1524000"/>
            <a:ext cx="10401300" cy="1905000"/>
            <a:chOff x="952500" y="1524000"/>
            <a:chExt cx="10401300" cy="1905000"/>
          </a:xfrm>
        </p:grpSpPr>
        <p:sp>
          <p:nvSpPr>
            <p:cNvPr id="8" name="Rectangle 8"/>
            <p:cNvSpPr/>
            <p:nvPr/>
          </p:nvSpPr>
          <p:spPr>
            <a:xfrm>
              <a:off x="952500" y="1524000"/>
              <a:ext cx="200025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9957" y="177355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2243" y="2203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更多模式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4529" y="2585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团队对战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84529" y="28041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计时赛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4529" y="30232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生存模式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19450" y="1524000"/>
              <a:ext cx="200025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46907" y="177355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49193" y="2203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视觉效果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51479" y="2585085"/>
              <a:ext cx="1251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Avatar 模型优化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51479" y="2804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音效添加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51479" y="30232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粒子特效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486400" y="1524000"/>
              <a:ext cx="200025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13857" y="177355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16143" y="2203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物理交互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18429" y="2585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物体碰撞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18429" y="2804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重力模拟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18429" y="30232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手势交互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753350" y="1524000"/>
              <a:ext cx="200025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rgbClr val="F59E0B">
                  <a:alpha val="4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80807" y="177355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83093" y="22031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编辑器增强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85379" y="2585085"/>
              <a:ext cx="747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撤销/重做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85379" y="2804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批量操作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85379" y="30232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网格对齐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020300" y="1524000"/>
              <a:ext cx="1333500" cy="19050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247757" y="1773555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50043" y="22031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跨平台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52329" y="25850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52329" y="2804160"/>
              <a:ext cx="6266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MR 设备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52329" y="30232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6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981075"/>
            <a:ext cx="10858500" cy="4924425"/>
            <a:chOff x="571500" y="981075"/>
            <a:chExt cx="10858500" cy="4924425"/>
          </a:xfrm>
        </p:grpSpPr>
        <p:sp>
          <p:nvSpPr>
            <p:cNvPr id="6" name="Polygon 6"/>
            <p:cNvSpPr/>
            <p:nvPr/>
          </p:nvSpPr>
          <p:spPr>
            <a:xfrm>
              <a:off x="10858500" y="981075"/>
              <a:ext cx="571500" cy="647700"/>
            </a:xfrm>
            <a:custGeom>
              <a:avLst/>
              <a:gdLst/>
              <a:ahLst/>
              <a:cxnLst/>
              <a:rect l="l" t="t" r="r" b="b"/>
              <a:pathLst>
                <a:path w="571500" h="647700">
                  <a:moveTo>
                    <a:pt x="0" y="161925"/>
                  </a:moveTo>
                  <a:lnTo>
                    <a:pt x="285750" y="0"/>
                  </a:lnTo>
                  <a:lnTo>
                    <a:pt x="571500" y="161925"/>
                  </a:lnTo>
                  <a:lnTo>
                    <a:pt x="571500" y="485775"/>
                  </a:lnTo>
                  <a:lnTo>
                    <a:pt x="285750" y="647700"/>
                  </a:lnTo>
                  <a:lnTo>
                    <a:pt x="0" y="485775"/>
                  </a:lnTo>
                  <a:close/>
                </a:path>
              </a:pathLst>
            </a:custGeom>
            <a:noFill/>
            <a:ln w="14288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09675" y="5495925"/>
              <a:ext cx="57150" cy="57150"/>
            </a:xfrm>
            <a:prstGeom prst="ellipse">
              <a:avLst/>
            </a:prstGeom>
            <a:noFill/>
            <a:ln w="9525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552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1500" y="55245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105580" y="2752725"/>
            <a:ext cx="3980840" cy="1596009"/>
            <a:chOff x="4105580" y="2752725"/>
            <a:chExt cx="3980840" cy="1596009"/>
          </a:xfrm>
        </p:grpSpPr>
        <p:sp>
          <p:nvSpPr>
            <p:cNvPr id="11" name="TextBox 11"/>
            <p:cNvSpPr txBox="1"/>
            <p:nvPr/>
          </p:nvSpPr>
          <p:spPr>
            <a:xfrm>
              <a:off x="4804791" y="2752725"/>
              <a:ext cx="258241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谢谢观看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3619500"/>
              <a:ext cx="20955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05580" y="3996690"/>
              <a:ext cx="3980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MR Flag Battle — 混合现实夺旗大战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03219" y="5188268"/>
            <a:ext cx="1985562" cy="584263"/>
            <a:chOff x="5103219" y="5188268"/>
            <a:chExt cx="1985562" cy="584263"/>
          </a:xfrm>
        </p:grpSpPr>
        <p:sp>
          <p:nvSpPr>
            <p:cNvPr id="15" name="TextBox 15"/>
            <p:cNvSpPr txBox="1"/>
            <p:nvPr/>
          </p:nvSpPr>
          <p:spPr>
            <a:xfrm>
              <a:off x="5103219" y="5188268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 联系方式 / 团队信息 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78932" y="553783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2026.07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rflag_presentation">
  <a:themeElements>
    <a:clrScheme name="mrflag_presentation">
      <a:dk1>
        <a:srgbClr val="E2E8F0"/>
      </a:dk1>
      <a:lt1>
        <a:srgbClr val="0A0E17"/>
      </a:lt1>
      <a:dk2>
        <a:srgbClr val="94A3B8"/>
      </a:dk2>
      <a:lt2>
        <a:srgbClr val="111827"/>
      </a:lt2>
      <a:accent1>
        <a:srgbClr val="3B82F6"/>
      </a:accent1>
      <a:accent2>
        <a:srgbClr val="06D6D0"/>
      </a:accent2>
      <a:accent3>
        <a:srgbClr val="8B5CF6"/>
      </a:accent3>
      <a:accent4>
        <a:srgbClr val="1E293B"/>
      </a:accent4>
      <a:accent5>
        <a:srgbClr val="64748B"/>
      </a:accent5>
      <a:accent6>
        <a:srgbClr val="10B981"/>
      </a:accent6>
      <a:hlink>
        <a:srgbClr val="06D6D0"/>
      </a:hlink>
      <a:folHlink>
        <a:srgbClr val="8B5CF6"/>
      </a:folHlink>
    </a:clrScheme>
    <a:fontScheme name="mrflag_presenta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rflag_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rflag_presentation">
  <a:themeElements>
    <a:clrScheme name="mrflag_presentation">
      <a:dk1>
        <a:srgbClr val="E2E8F0"/>
      </a:dk1>
      <a:lt1>
        <a:srgbClr val="0A0E17"/>
      </a:lt1>
      <a:dk2>
        <a:srgbClr val="94A3B8"/>
      </a:dk2>
      <a:lt2>
        <a:srgbClr val="111827"/>
      </a:lt2>
      <a:accent1>
        <a:srgbClr val="3B82F6"/>
      </a:accent1>
      <a:accent2>
        <a:srgbClr val="06D6D0"/>
      </a:accent2>
      <a:accent3>
        <a:srgbClr val="8B5CF6"/>
      </a:accent3>
      <a:accent4>
        <a:srgbClr val="1E293B"/>
      </a:accent4>
      <a:accent5>
        <a:srgbClr val="64748B"/>
      </a:accent5>
      <a:accent6>
        <a:srgbClr val="10B981"/>
      </a:accent6>
      <a:hlink>
        <a:srgbClr val="06D6D0"/>
      </a:hlink>
      <a:folHlink>
        <a:srgbClr val="8B5CF6"/>
      </a:folHlink>
    </a:clrScheme>
    <a:fontScheme name="mrflag_presenta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rflag_present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2026-07-15T05:02:38Z</dcterms:created>
  <dcterms:modified xsi:type="dcterms:W3CDTF">2026-07-15T05:02:38Z</dcterms:modified>
  <cp:category/>
  <cp:contentStatus/>
</cp:coreProperties>
</file>